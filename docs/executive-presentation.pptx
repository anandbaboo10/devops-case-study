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C7099"/>
                </a:solidFill>
                <a:latin typeface="Aptos"/>
              </a:defRPr>
            </a:pPr>
            <a:r>
              <a:t>EXECUTIVE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12C44"/>
                </a:solidFill>
                <a:latin typeface="Aptos"/>
              </a:defRPr>
            </a:pPr>
            <a:r>
              <a:t>Re-scope the transformation—keep moving, but change the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C6F7C"/>
                </a:solidFill>
                <a:latin typeface="Aptos"/>
              </a:defRPr>
            </a:pPr>
            <a:r>
              <a:t>DEVOPS &amp; ANALYTICS TRANSFORMATION  • 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1C70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987552"/>
          </a:xfrm>
          <a:prstGeom prst="roundRect">
            <a:avLst/>
          </a:prstGeom>
          <a:solidFill>
            <a:srgbClr val="11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3784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Continue safe repository moves. Shift capacity to reliable pipelines, secure exceptions, and developer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0789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1C7099"/>
                </a:solidFill>
                <a:latin typeface="Aptos"/>
              </a:defRPr>
            </a:pPr>
            <a:r>
              <a:t>WHY CHANGE COURSE?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90672"/>
            <a:ext cx="3493008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090672"/>
            <a:ext cx="68580" cy="2331720"/>
          </a:xfrm>
          <a:prstGeom prst="rect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3081527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Pipelines are the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3"/>
            <a:ext cx="3054096" cy="1581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A repository moved to GitHub is not ready if its build, tests, outputs, or release process are unreliable.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90672"/>
            <a:ext cx="3493008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090672"/>
            <a:ext cx="68580" cy="2331720"/>
          </a:xfrm>
          <a:prstGeom prst="rect">
            <a:avLst/>
          </a:prstGeom>
          <a:solidFill>
            <a:srgbClr val="ED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236976"/>
            <a:ext cx="3081527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Some workloads need a safe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12463"/>
            <a:ext cx="3054096" cy="1581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Windows/x86 and native builds may need a restricted runner. Do not weaken controls for everyone to solve one case.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090672"/>
            <a:ext cx="3474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090672"/>
            <a:ext cx="68580" cy="2331720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236976"/>
            <a:ext cx="306323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Trust matters more than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12463"/>
            <a:ext cx="3035808" cy="1581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Use DORA data for improvement only after definitions and sources are verified—not to rank teams.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05856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112C44"/>
                </a:solidFill>
                <a:latin typeface="Aptos"/>
              </a:defRPr>
            </a:pPr>
            <a:r>
              <a:t>Leadership message: measure success by working, supported delivery—not repository counts alone.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C7099"/>
                </a:solidFill>
                <a:latin typeface="Aptos"/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12C44"/>
                </a:solidFill>
                <a:latin typeface="Aptos"/>
              </a:defRPr>
            </a:pPr>
            <a:r>
              <a:t>First 90 days: understand, prove, then expand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C6F7C"/>
                </a:solidFill>
                <a:latin typeface="Aptos"/>
              </a:defRPr>
            </a:pPr>
            <a:r>
              <a:t>DEVOPS &amp; ANALYTICS TRANSFORMATION  • 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1C70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34747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3474720" cy="118872"/>
          </a:xfrm>
          <a:prstGeom prst="rect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C7099"/>
                </a:solidFill>
                <a:latin typeface="Aptos"/>
              </a:defRPr>
            </a:pPr>
            <a:r>
              <a:t>DAYS 0–30  |  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301752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233441"/>
                </a:solidFill>
                <a:latin typeface="Aptos"/>
              </a:defRPr>
            </a:pPr>
            <a:r>
              <a:t>Name owners and inventory repositories, pipelines, dependencies, risks, artifacts, and runner needs. Agree the pilot, security baseline, measures, and rollback steps.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7368" y="2880360"/>
            <a:ext cx="256032" cy="493776"/>
          </a:xfrm>
          <a:prstGeom prst="chevron">
            <a:avLst/>
          </a:prstGeom>
          <a:solidFill>
            <a:srgbClr val="B1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572768"/>
            <a:ext cx="34747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72768"/>
            <a:ext cx="3474720" cy="118872"/>
          </a:xfrm>
          <a:prstGeom prst="rect">
            <a:avLst/>
          </a:prstGeom>
          <a:solidFill>
            <a:srgbClr val="ED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19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EDB042"/>
                </a:solidFill>
                <a:latin typeface="Aptos"/>
              </a:defRPr>
            </a:pPr>
            <a:r>
              <a:t>DAYS 31–60  | 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78608"/>
            <a:ext cx="301752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233441"/>
                </a:solidFill>
                <a:latin typeface="Aptos"/>
              </a:defRPr>
            </a:pPr>
            <a:r>
              <a:t>Pilot about 20–30 representative repositories, including Windows/x86 cases. Compare old and new builds, tests, coverage, and artifacts. Collect developer feedback.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6408" y="2880360"/>
            <a:ext cx="256032" cy="493776"/>
          </a:xfrm>
          <a:prstGeom prst="chevron">
            <a:avLst/>
          </a:prstGeom>
          <a:solidFill>
            <a:srgbClr val="B1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572768"/>
            <a:ext cx="34747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572768"/>
            <a:ext cx="3474720" cy="118872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2A9A9"/>
                </a:solidFill>
                <a:latin typeface="Aptos"/>
              </a:defRPr>
            </a:pPr>
            <a:r>
              <a:t>DAYS 61–90  |  EXPAND SELECTIVELY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78608"/>
            <a:ext cx="3017520" cy="2148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233441"/>
                </a:solidFill>
                <a:latin typeface="Aptos"/>
              </a:defRPr>
            </a:pPr>
            <a:r>
              <a:t>Move only workloads that pass readiness checks. Fix common friction. Review evidence and approve the next service-aligned wave.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0972800" cy="685800"/>
          </a:xfrm>
          <a:prstGeom prst="roundRect">
            <a:avLst/>
          </a:prstGeom>
          <a:solidFill>
            <a:srgbClr val="DE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13832"/>
            <a:ext cx="10378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400" b="1">
                <a:solidFill>
                  <a:srgbClr val="112C44"/>
                </a:solidFill>
                <a:latin typeface="Aptos"/>
              </a:defRPr>
            </a:pPr>
            <a:r>
              <a:t>Gate each wave on build/test parity • artifact checks • security • rollback readiness • owner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C7099"/>
                </a:solidFill>
                <a:latin typeface="Aptos"/>
              </a:defRPr>
            </a:pPr>
            <a:r>
              <a:t>OPERATING MODEL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12C44"/>
                </a:solidFill>
                <a:latin typeface="Aptos"/>
              </a:defRPr>
            </a:pPr>
            <a:r>
              <a:t>Make the secure path the easiest path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C6F7C"/>
                </a:solidFill>
                <a:latin typeface="Aptos"/>
              </a:defRPr>
            </a:pPr>
            <a:r>
              <a:t>DEVOPS &amp; ANALYTICS TRANSFORMATION  • 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1C70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68580" cy="1783080"/>
          </a:xfrm>
          <a:prstGeom prst="rect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9344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Platform team owns the paved road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2"/>
            <a:ext cx="4910327" cy="10332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Reusable workflows, migration tools, runner service, support, documentation, and reliability. Treat the platform as a product with owners and a roadmap.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492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68580" cy="1783080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9344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Service teams own their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4910327" cy="10332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Code, tests, service metadata, release behavior, incident facts, and migration acceptance remain with the product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1C7099"/>
                </a:solidFill>
                <a:latin typeface="Aptos"/>
              </a:defRPr>
            </a:pPr>
            <a:r>
              <a:t>SECURITY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1600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816" y="4160520"/>
            <a:ext cx="164592" cy="164592"/>
          </a:xfrm>
          <a:prstGeom prst="ellipse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87368"/>
            <a:ext cx="116128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32304" y="3977639"/>
            <a:ext cx="18288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60320" y="4160520"/>
            <a:ext cx="164592" cy="164592"/>
          </a:xfrm>
          <a:prstGeom prst="ellipse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8064" y="4087368"/>
            <a:ext cx="138988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Protected branches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977639"/>
            <a:ext cx="2331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35424" y="4160520"/>
            <a:ext cx="164592" cy="164592"/>
          </a:xfrm>
          <a:prstGeom prst="ellipse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4087368"/>
            <a:ext cx="1892807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Secret &amp; dependency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85432" y="3977639"/>
            <a:ext cx="1737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13448" y="4160520"/>
            <a:ext cx="164592" cy="164592"/>
          </a:xfrm>
          <a:prstGeom prst="ellipse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4087368"/>
            <a:ext cx="12984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Approved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3977639"/>
            <a:ext cx="19659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97112" y="4160520"/>
            <a:ext cx="164592" cy="164592"/>
          </a:xfrm>
          <a:prstGeom prst="ellipse">
            <a:avLst/>
          </a:prstGeom>
          <a:solidFill>
            <a:srgbClr val="ED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4087368"/>
            <a:ext cx="152704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Production approvals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0" y="3977639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09376" y="4160520"/>
            <a:ext cx="164592" cy="164592"/>
          </a:xfrm>
          <a:prstGeom prst="ellipse">
            <a:avLst/>
          </a:prstGeom>
          <a:solidFill>
            <a:srgbClr val="ED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4087368"/>
            <a:ext cx="157276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150" b="1">
                <a:solidFill>
                  <a:srgbClr val="112C44"/>
                </a:solidFill>
                <a:latin typeface="Aptos"/>
              </a:defRPr>
            </a:pPr>
            <a:r>
              <a:t>Isolated legacy runners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56048"/>
            <a:ext cx="10972800" cy="960120"/>
          </a:xfrm>
          <a:prstGeom prst="round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120640"/>
            <a:ext cx="104698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400" b="1">
                <a:solidFill>
                  <a:srgbClr val="233441"/>
                </a:solidFill>
                <a:latin typeface="Aptos"/>
              </a:defRPr>
            </a:pPr>
            <a:r>
              <a:t>Exceptions are controlled—not hidden: record an owner, reason, risk, compensating protection, approver, expiry, and fix plan. Review regularly.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C7099"/>
                </a:solidFill>
                <a:latin typeface="Aptos"/>
              </a:defRPr>
            </a:pPr>
            <a:r>
              <a:t>ANALYTICS &amp; METRIC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12C44"/>
                </a:solidFill>
                <a:latin typeface="Aptos"/>
              </a:defRPr>
            </a:pPr>
            <a:r>
              <a:t>DORA baseline: show the evidence—and the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C6F7C"/>
                </a:solidFill>
                <a:latin typeface="Aptos"/>
              </a:defRPr>
            </a:pPr>
            <a:r>
              <a:t>DEVOPS &amp; ANALYTICS TRANSFORMATION  • 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1C70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5420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7863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400" b="1">
                <a:solidFill>
                  <a:srgbClr val="1C7099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60020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112C44"/>
                </a:solidFill>
                <a:latin typeface="Aptos"/>
              </a:defRPr>
            </a:pPr>
            <a:r>
              <a:t>commits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417320"/>
            <a:ext cx="25420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536192"/>
            <a:ext cx="7863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400" b="1">
                <a:solidFill>
                  <a:srgbClr val="32A9A9"/>
                </a:solidFill>
                <a:latin typeface="Aptos"/>
              </a:defRPr>
            </a:pPr>
            <a:r>
              <a:t>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60020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112C44"/>
                </a:solidFill>
                <a:latin typeface="Aptos"/>
              </a:defRPr>
            </a:pPr>
            <a:r>
              <a:t>build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417320"/>
            <a:ext cx="25420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36192"/>
            <a:ext cx="7863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400" b="1">
                <a:solidFill>
                  <a:srgbClr val="EDB0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160020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112C44"/>
                </a:solidFill>
                <a:latin typeface="Aptos"/>
              </a:defRPr>
            </a:pPr>
            <a:r>
              <a:t>incidents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417320"/>
            <a:ext cx="2542032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536192"/>
            <a:ext cx="7863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400" b="1">
                <a:solidFill>
                  <a:srgbClr val="1C709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600200"/>
            <a:ext cx="1417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112C44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761488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761488"/>
            <a:ext cx="68580" cy="2029968"/>
          </a:xfrm>
          <a:prstGeom prst="rect">
            <a:avLst/>
          </a:prstGeom>
          <a:solidFill>
            <a:srgbClr val="EDB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07792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What must be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4910327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Commit `build_sk` versus build `build_id` linkage; whether builds represent successful production deployments; and how incidents map to deployments.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61488"/>
            <a:ext cx="5349240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61488"/>
            <a:ext cx="68580" cy="2029968"/>
          </a:xfrm>
          <a:prstGeom prst="rect">
            <a:avLst/>
          </a:prstGeom>
          <a:solidFill>
            <a:srgbClr val="BD5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907792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Known data 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383280"/>
            <a:ext cx="4910327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Only three incidents are marked deployment-caused. One incident resolution is earlier than its start. Verify source meanings before calculating a baseline.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138928"/>
            <a:ext cx="10972800" cy="868680"/>
          </a:xfrm>
          <a:prstGeom prst="roundRect">
            <a:avLst/>
          </a:prstGeom>
          <a:solidFill>
            <a:srgbClr val="11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30952"/>
            <a:ext cx="103784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Decision: agree definitions and sources; publish coverage and quality flags; do not rank teams on incomplete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1C7099"/>
                </a:solidFill>
                <a:latin typeface="Aptos"/>
              </a:defRPr>
            </a:pPr>
            <a:r>
              <a:t>DECISIONS &amp;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>
                <a:solidFill>
                  <a:srgbClr val="112C44"/>
                </a:solidFill>
                <a:latin typeface="Aptos"/>
              </a:defRPr>
            </a:pPr>
            <a:r>
              <a:t>Leadership decisions: fund the foundations and set clear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686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>
                <a:solidFill>
                  <a:srgbClr val="5C6F7C"/>
                </a:solidFill>
                <a:latin typeface="Aptos"/>
              </a:defRPr>
            </a:pPr>
            <a:r>
              <a:t>DEVOPS &amp; ANALYTICS TRANSFORMATION  •  EXECUTIVE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1C709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8580" cy="2880360"/>
          </a:xfrm>
          <a:prstGeom prst="rect">
            <a:avLst/>
          </a:prstGeom>
          <a:solidFill>
            <a:srgbClr val="1C7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63624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Approve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39112"/>
            <a:ext cx="4910327" cy="2130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• Named executive, platform, service, security, and analytics owners</a:t>
            </a:r>
            <a:br/>
            <a:r>
              <a:t>• Service-aligned migration waves and evidence-based exit gates</a:t>
            </a:r>
            <a:br/>
            <a:r>
              <a:t>• Staged security baseline and time-bound exception process</a:t>
            </a:r>
            <a:br/>
            <a:r>
              <a:t>• Azure Boards remains in one ADO organization; name integration owner</a:t>
            </a:r>
            <a:br/>
            <a:r>
              <a:t>• No DORA team ranking until data quality is acceptable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68580" cy="2880360"/>
          </a:xfrm>
          <a:prstGeom prst="rect">
            <a:avLst/>
          </a:prstGeom>
          <a:solidFill>
            <a:srgbClr val="32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63624"/>
            <a:ext cx="493775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12C44"/>
                </a:solidFill>
                <a:latin typeface="Aptos"/>
              </a:defRPr>
            </a:pPr>
            <a:r>
              <a:t>Invest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39112"/>
            <a:ext cx="4910327" cy="2130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50" b="0">
                <a:solidFill>
                  <a:srgbClr val="233441"/>
                </a:solidFill>
                <a:latin typeface="Aptos"/>
              </a:defRPr>
            </a:pPr>
            <a:r>
              <a:t>• Platform product team and migration automation</a:t>
            </a:r>
            <a:br/>
            <a:r>
              <a:t>• Developer support, documentation, and enablement</a:t>
            </a:r>
            <a:br/>
            <a:r>
              <a:t>• Restricted Windows/x86 runner capacity</a:t>
            </a:r>
            <a:br/>
            <a:r>
              <a:t>• Security and identity expertise</a:t>
            </a:r>
            <a:br/>
            <a:r>
              <a:t>• Fabric data engineering and metric stewardship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72000"/>
            <a:ext cx="5349240" cy="1097280"/>
          </a:xfrm>
          <a:prstGeom prst="roundRect">
            <a:avLst/>
          </a:prstGeom>
          <a:solidFill>
            <a:srgbClr val="FF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727448"/>
            <a:ext cx="4800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BD504B"/>
                </a:solidFill>
                <a:latin typeface="Aptos"/>
              </a:defRPr>
            </a:pPr>
            <a:r>
              <a:t>DEFER FOR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47488"/>
            <a:ext cx="48006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50" b="0">
                <a:solidFill>
                  <a:srgbClr val="233441"/>
                </a:solidFill>
                <a:latin typeface="Aptos"/>
              </a:defRPr>
            </a:pPr>
            <a:r>
              <a:t>Mass rewrites • forced Boards migration • unsupported blanket controls • team DORA targets • autonomous production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349240" cy="1097280"/>
          </a:xfrm>
          <a:prstGeom prst="roundRect">
            <a:avLst/>
          </a:prstGeom>
          <a:solidFill>
            <a:srgbClr val="E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727448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318567"/>
                </a:solidFill>
                <a:latin typeface="Aptos"/>
              </a:defRPr>
            </a:pPr>
            <a:r>
              <a:t>DAY-90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047488"/>
            <a:ext cx="4754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50" b="0">
                <a:solidFill>
                  <a:srgbClr val="233441"/>
                </a:solidFill>
                <a:latin typeface="Aptos"/>
              </a:defRPr>
            </a:pPr>
            <a:r>
              <a:t>Pilots pass parity and rollback checks; owners are clear; friction is improving; analytics caveats are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